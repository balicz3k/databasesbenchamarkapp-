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9"/>
  </p:notesMasterIdLst>
  <p:handoutMasterIdLst>
    <p:handoutMasterId r:id="rId40"/>
  </p:handoutMasterIdLst>
  <p:sldIdLst>
    <p:sldId id="256" r:id="rId5"/>
    <p:sldId id="261" r:id="rId6"/>
    <p:sldId id="277" r:id="rId7"/>
    <p:sldId id="262" r:id="rId8"/>
    <p:sldId id="321" r:id="rId9"/>
    <p:sldId id="295" r:id="rId10"/>
    <p:sldId id="296" r:id="rId11"/>
    <p:sldId id="289" r:id="rId12"/>
    <p:sldId id="264" r:id="rId13"/>
    <p:sldId id="302" r:id="rId14"/>
    <p:sldId id="303" r:id="rId15"/>
    <p:sldId id="305" r:id="rId16"/>
    <p:sldId id="304" r:id="rId17"/>
    <p:sldId id="297" r:id="rId18"/>
    <p:sldId id="306" r:id="rId19"/>
    <p:sldId id="307" r:id="rId20"/>
    <p:sldId id="308" r:id="rId21"/>
    <p:sldId id="309" r:id="rId22"/>
    <p:sldId id="310" r:id="rId23"/>
    <p:sldId id="298" r:id="rId24"/>
    <p:sldId id="311" r:id="rId25"/>
    <p:sldId id="312" r:id="rId26"/>
    <p:sldId id="313" r:id="rId27"/>
    <p:sldId id="314" r:id="rId28"/>
    <p:sldId id="315" r:id="rId29"/>
    <p:sldId id="299" r:id="rId30"/>
    <p:sldId id="316" r:id="rId31"/>
    <p:sldId id="317" r:id="rId32"/>
    <p:sldId id="318" r:id="rId33"/>
    <p:sldId id="319" r:id="rId34"/>
    <p:sldId id="320" r:id="rId35"/>
    <p:sldId id="266" r:id="rId36"/>
    <p:sldId id="292" r:id="rId37"/>
    <p:sldId id="276" r:id="rId38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9" autoAdjust="0"/>
    <p:restoredTop sz="94651"/>
  </p:normalViewPr>
  <p:slideViewPr>
    <p:cSldViewPr snapToGrid="0">
      <p:cViewPr varScale="1">
        <p:scale>
          <a:sx n="92" d="100"/>
          <a:sy n="92" d="100"/>
        </p:scale>
        <p:origin x="176" y="4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4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84C721-F4C4-4104-B212-36410AB85D48}" type="datetime1">
              <a:rPr lang="pl-PL" smtClean="0"/>
              <a:t>21.05.2026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333FC-E0B7-45D5-9DAE-FE7605F8B9DB}" type="datetime1">
              <a:rPr lang="pl-PL" smtClean="0"/>
              <a:pPr/>
              <a:t>21.05.2026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3730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8742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131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2999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6097-7E71-1F31-6919-9644A582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A4DF8C6-5317-3D84-9A58-D253B03BD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D97D179-64D9-0732-0DF4-CF9961F77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C7737C5-BA74-C8FF-6C0D-FBB6BD407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8966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BE9E-D84B-4FB7-08CE-EFF35160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2B449D5-3F63-BD40-5CF5-7F40CAED4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88A78AF-FFF6-7692-55D8-8D31B46D8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05DE857-4E65-1402-B676-6187DBB43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4507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884F8-60B1-DDDB-1C94-79B6D20A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5A2F659-D3BB-12DB-4CC4-21CB84446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A27E651-0FAB-68C0-CBE5-7B0CA9B4B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018BC10-2ADD-A9B5-5DAF-74243C30F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2340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3509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9543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A8B0-7DAF-C4A4-448F-4E6EB485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6410FBE-7177-398B-B846-6C656F0C7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41BA389-A465-D13E-EB27-F0BC3D43E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1AB9CAD-67BA-88D5-A612-258CFD226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1095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89A5-DE43-E167-494D-081FD3D0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C9725D2-72CE-804A-9D8F-DAE8F5336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C6BF6F3-F12E-77F0-C80D-A3A61B729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58DDEAE-9E2C-3CAF-65F6-4DDAC5AC8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5396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190E-3AF3-2177-C386-6FC864DC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707FA47-C456-DF46-4451-2873D5C65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97FE1DF-8D0F-7C3B-F52A-E9A4A6592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A658F60-4E51-652C-03DB-17DE09A41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2940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E3F5-6D7B-1D8A-CF4C-DA1AC99D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8346131-33CD-7A66-D0D0-3B666A156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2B258A6-A0B8-1DBA-010E-E3C247374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FD1202B-89A7-203A-0A0B-3E31A0954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31287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0D88C-D213-1EB1-780D-82950F9C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3F01A59-1698-66E8-9304-AB538EECE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F18F5B1-BDD2-9D58-92BA-3EEDDB077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8CC3AFF-7747-1694-EC32-05FCA853D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9372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05EC-4A45-AB96-61AC-0DA407A0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D868B60-6BC4-59A0-9550-FEB52E61A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7E7A9AF-391F-1439-9604-AAF6E4F8D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F0273BF-5621-444F-C239-6DE2C0891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0639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FBCB-3870-E782-6D85-30BCED28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C4A8F93-5DB4-9FBC-2785-1EF7E3344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B314836-ACCB-69EF-262F-94EE871A6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AF4BDE7-8BC4-8427-15BE-4B817A862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6950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BBCF-5829-9D32-7725-F8B7CD63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463DBA8-9C90-6BF2-567D-80F4C24B0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20DDA10-BAA7-4C6E-7884-357B5CA67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378D534-A1F4-EB9B-C8F7-7911F08A0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0818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A0EF-D292-AB22-C63A-D43EC8CF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F5B031C-97C8-798C-7887-225985B71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5744E6F-1906-DC91-E482-9D4E0C27A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52E5403-0FEF-7B0F-DFAA-A4E6CC5BB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8484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63A6-6274-ADF8-893F-36ADB6AB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EA6AD4F-AEF1-D210-9DFF-E5014648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E2E991D-2086-3A15-0C0A-B3210E27E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7CEAF7D-CBF3-1A00-7168-0392D591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5923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1780-D08E-D461-BD80-9CEA2EE4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E922A58-2FEE-1928-69C2-063539922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ABD0088-497B-6DD9-A69A-BA340A799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A752E0E-81E5-3B51-EB53-624225915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415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C354-18D1-05CE-43F4-5B607A126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C5234D1-A04D-DCE1-4D28-75AC4C591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3C0D6C6-CFE2-C31E-F54D-F3989C271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9D5E972-3EC3-2D7D-B4C8-BC27635D9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40675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E65CC-C5B0-1C58-4AB7-9445BD7A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143FEDB-F9CD-52A3-557D-B8CCBB42F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79E76A7-052B-F8FD-3B75-65C10526A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93E32BE-0AC6-9046-B95F-70309168E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41375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55EB-5161-BD76-2F3B-23AEA781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AD6BA6C-2689-A80D-ABDB-BBEFB90A9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BEB91F1-DF84-7339-2454-C65ED0993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06A143E-FBFD-3D3D-3404-C8090ADD1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5951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1F96-97A2-4277-15BF-3CCA7AE7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17AC1E9-FA18-53D8-FAE3-5BF8614AE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20D79F3-C607-CE1C-9219-7FC79BC1F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839E2FB-CEAC-B03F-0E14-2C9482205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4941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8919-5811-EE00-2C2B-86D6AE11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4CB8D6F-2D8D-9711-C31E-C405F455F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BBBCE38-C8F0-F8CE-71CB-11A02DF65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0F9B929-8BBB-56F2-B6DE-4D9774BBA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31178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CEC34-1A30-510F-2966-B182F6A0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DDD5572-3442-7DA2-3983-73F05E5BC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6FEA1CA-5185-3268-C727-2B3998B7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17657F5-45ED-2BA7-B1F4-46DE3E8E3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3575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76DF-8CE0-5D7C-960F-6AA16399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FABD39B-387F-743F-8CB7-14F18B4E0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5508642-63E8-F322-F3A0-46134E9AE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BA524F5-0983-ACE7-4A38-71E5D8842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96428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806D1-9AC4-11DD-525F-64968FFF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EB8ADF9-97CA-7D19-1FB1-961262966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DF019C0-6815-859E-31AE-85F58A3DC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E52804-517A-B631-B424-24B53C9E2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66195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6D99-F445-C1DE-8D78-C3EEA50F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3EB43C4-57DA-245C-8715-34AAF61C1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1168D9C-9253-1A97-E605-4ACA2D78A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91F01A9-7231-EBF3-1404-9054C743E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34089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C663-6177-6D34-D7A5-12EC5612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44B5085-C024-D188-2015-E62101D1D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770E0AB-53EA-2EF5-A8FA-1A99A36F2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1B736F9-D942-36AB-4A66-9A6812238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9493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6008-0847-FFC9-6AC1-4AA61952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451D2B1-D44A-BE92-57DF-CB56DE9DB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E470295-5FAA-F79F-BF28-1EC3D24C1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F22447F-E3DF-B7E7-B85F-7008BAD75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7770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26518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533071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SmartArt graphic</a:t>
            </a:r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1" y="4216058"/>
            <a:ext cx="5372968" cy="1340983"/>
          </a:xfrm>
        </p:spPr>
        <p:txBody>
          <a:bodyPr rtlCol="0"/>
          <a:lstStyle/>
          <a:p>
            <a:pPr rtl="0"/>
            <a:r>
              <a:rPr lang="pl-PL" dirty="0"/>
              <a:t>Porównanie wydajności systemów Bazodanowych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l-PL" dirty="0"/>
              <a:t>Jakub Balicki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dirty="0"/>
              <a:t>Cel projektu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pl-PL" dirty="0"/>
              <a:t>Hipoteza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pl-PL" dirty="0"/>
              <a:t>Testowane wielkości danych</a:t>
            </a:r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pl-PL" dirty="0"/>
              <a:t>Metodologia testowania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4494" y="1525749"/>
            <a:ext cx="5539095" cy="1010842"/>
          </a:xfrm>
        </p:spPr>
        <p:txBody>
          <a:bodyPr rtlCol="0"/>
          <a:lstStyle/>
          <a:p>
            <a:r>
              <a:rPr lang="pl-PL" dirty="0"/>
              <a:t>Zmierzyć i porównać wydajność operacji CRUD czterech technologii bazodanowych na tych samych danych, z indeksami i bez. Wyciągnąć wnioski na podstawie otrzymanych wyników.</a:t>
            </a:r>
          </a:p>
        </p:txBody>
      </p:sp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pl-PL" dirty="0"/>
              <a:t>Zastosowanie indeksów znacząco poprawia wydajność operacji SELECT kosztem spadku </a:t>
            </a:r>
            <a:br>
              <a:rPr lang="pl-PL" dirty="0"/>
            </a:br>
            <a:r>
              <a:rPr lang="pl-PL" dirty="0"/>
              <a:t>wydajności operacji INSERT i UPDATE.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pl-PL" dirty="0"/>
              <a:t>500 </a:t>
            </a:r>
            <a:r>
              <a:rPr lang="pl-PL" dirty="0" err="1"/>
              <a:t>tys</a:t>
            </a:r>
            <a:r>
              <a:rPr lang="pl-PL" dirty="0"/>
              <a:t> | 1 mln | 10 mln sumarycznie we wszystkich tabelach.</a:t>
            </a:r>
          </a:p>
          <a:p>
            <a:pPr rtl="0"/>
            <a:endParaRPr lang="pl-PL" dirty="0"/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pl-PL" dirty="0"/>
              <a:t>Każdy z 24 scenariuszy CRUD został przetestowany 3 krotnie. Wszystkie bazy danych zostały utworzone w takim samym wirtualny środowisku za pomocą </a:t>
            </a:r>
            <a:r>
              <a:rPr lang="pl-PL" dirty="0" err="1"/>
              <a:t>Dockera</a:t>
            </a:r>
            <a:r>
              <a:rPr lang="pl-PL" dirty="0"/>
              <a:t>.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2939082" cy="365125"/>
          </a:xfrm>
        </p:spPr>
        <p:txBody>
          <a:bodyPr rtlCol="0"/>
          <a:lstStyle/>
          <a:p>
            <a:r>
              <a:rPr lang="pl-PL" dirty="0"/>
              <a:t>Porównanie wydajności systemów Bazodanowych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pPr rtl="0"/>
            <a:r>
              <a:rPr lang="pl-PL" dirty="0"/>
              <a:t>Testowane technologie: </a:t>
            </a:r>
          </a:p>
        </p:txBody>
      </p:sp>
      <p:sp>
        <p:nvSpPr>
          <p:cNvPr id="6" name="Data — symbol zastępczy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pl-PL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pl-PL"/>
              <a:t>Prezentacja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l-PL" smtClean="0"/>
              <a:pPr rtl="0"/>
              <a:t>3</a:t>
            </a:fld>
            <a:endParaRPr lang="pl-PL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65A61EE-0465-1C3B-9706-1961BB657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7699" y="2868453"/>
            <a:ext cx="2242187" cy="1121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56F16C-DD26-6515-0672-DD6795527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811" y="2346008"/>
            <a:ext cx="2065339" cy="20653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AC36D1-1217-54A6-3FD2-8DCD1B379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65" y="4137501"/>
            <a:ext cx="1700054" cy="1700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2F856C-ECE7-23C3-568D-C0ED119B5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6750" y="4218241"/>
            <a:ext cx="1538574" cy="15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729" y="495064"/>
            <a:ext cx="8421688" cy="931298"/>
          </a:xfrm>
        </p:spPr>
        <p:txBody>
          <a:bodyPr rtlCol="0"/>
          <a:lstStyle/>
          <a:p>
            <a:pPr rtl="0"/>
            <a:r>
              <a:rPr lang="pl-PL" dirty="0"/>
              <a:t>Baza danych Szpitala w systemie Relacyjnym (</a:t>
            </a:r>
            <a:r>
              <a:rPr lang="pl-PL" dirty="0" err="1"/>
              <a:t>Postgresql</a:t>
            </a:r>
            <a:r>
              <a:rPr lang="pl-PL" dirty="0"/>
              <a:t>, my </a:t>
            </a:r>
            <a:r>
              <a:rPr lang="pl-PL" dirty="0" err="1"/>
              <a:t>sql</a:t>
            </a:r>
            <a:r>
              <a:rPr lang="pl-PL" dirty="0"/>
              <a:t>)</a:t>
            </a:r>
          </a:p>
        </p:txBody>
      </p:sp>
      <p:sp>
        <p:nvSpPr>
          <p:cNvPr id="80" name="Data — symbol zastępczy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81" name="Stopka — symbol zastępczy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</p:txBody>
      </p:sp>
      <p:sp>
        <p:nvSpPr>
          <p:cNvPr id="82" name="Numer slajdu — symbol zastępczy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/>
              <a:t>4</a:t>
            </a:fld>
            <a:endParaRPr lang="pl-PL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DB17EF-E006-BE84-CA11-9049DBD07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61" y="1583305"/>
            <a:ext cx="5626677" cy="461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2527-048E-C60C-92D7-5120E647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85175E-AA38-598A-0C17-4E2C5921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729" y="495064"/>
            <a:ext cx="8421688" cy="931298"/>
          </a:xfrm>
        </p:spPr>
        <p:txBody>
          <a:bodyPr rtlCol="0"/>
          <a:lstStyle/>
          <a:p>
            <a:pPr rtl="0"/>
            <a:r>
              <a:rPr lang="pl-PL" dirty="0"/>
              <a:t>Baza danych Szpitala w systemie Relacyjnym (</a:t>
            </a:r>
            <a:r>
              <a:rPr lang="pl-PL" dirty="0" err="1"/>
              <a:t>Postgresql</a:t>
            </a:r>
            <a:r>
              <a:rPr lang="pl-PL" dirty="0"/>
              <a:t>, my </a:t>
            </a:r>
            <a:r>
              <a:rPr lang="pl-PL" dirty="0" err="1"/>
              <a:t>sql</a:t>
            </a:r>
            <a:r>
              <a:rPr lang="pl-PL" dirty="0"/>
              <a:t>)</a:t>
            </a:r>
          </a:p>
        </p:txBody>
      </p:sp>
      <p:sp>
        <p:nvSpPr>
          <p:cNvPr id="80" name="Data — symbol zastępczy 79">
            <a:extLst>
              <a:ext uri="{FF2B5EF4-FFF2-40B4-BE49-F238E27FC236}">
                <a16:creationId xmlns:a16="http://schemas.microsoft.com/office/drawing/2014/main" id="{CFC2B6A1-FB65-B54E-D63D-BCD188A1088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81" name="Stopka — symbol zastępczy 80">
            <a:extLst>
              <a:ext uri="{FF2B5EF4-FFF2-40B4-BE49-F238E27FC236}">
                <a16:creationId xmlns:a16="http://schemas.microsoft.com/office/drawing/2014/main" id="{F720C8CA-2DC5-9939-91BA-453C34810E4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</p:txBody>
      </p:sp>
      <p:sp>
        <p:nvSpPr>
          <p:cNvPr id="82" name="Numer slajdu — symbol zastępczy 81">
            <a:extLst>
              <a:ext uri="{FF2B5EF4-FFF2-40B4-BE49-F238E27FC236}">
                <a16:creationId xmlns:a16="http://schemas.microsoft.com/office/drawing/2014/main" id="{2E0B0450-71C6-7A9E-0BDA-64D7B664E17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5</a:t>
            </a:fld>
            <a:endParaRPr lang="pl-PL"/>
          </a:p>
        </p:txBody>
      </p:sp>
      <p:pic>
        <p:nvPicPr>
          <p:cNvPr id="5" name="Picture 4" descr="A table with black text&#10;&#10;AI-generated content may be incorrect.">
            <a:extLst>
              <a:ext uri="{FF2B5EF4-FFF2-40B4-BE49-F238E27FC236}">
                <a16:creationId xmlns:a16="http://schemas.microsoft.com/office/drawing/2014/main" id="{9F7F1859-9BC2-6213-34EB-343BC5BB8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701413"/>
            <a:ext cx="7772400" cy="437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7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39DE-44E5-C0EC-F2CF-17C5F1A4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51F608-7F30-1749-9932-279FE42A4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69537"/>
            <a:ext cx="8421688" cy="931298"/>
          </a:xfrm>
        </p:spPr>
        <p:txBody>
          <a:bodyPr rtlCol="0"/>
          <a:lstStyle/>
          <a:p>
            <a:pPr rtl="0"/>
            <a:r>
              <a:rPr lang="pl-PL" dirty="0"/>
              <a:t>Baza danych Szpitala w systemie NIE Relacyjnym (</a:t>
            </a:r>
            <a:r>
              <a:rPr lang="pl-PL" dirty="0" err="1"/>
              <a:t>mongo</a:t>
            </a:r>
            <a:r>
              <a:rPr lang="pl-PL" dirty="0"/>
              <a:t> </a:t>
            </a:r>
            <a:r>
              <a:rPr lang="pl-PL" dirty="0" err="1"/>
              <a:t>db</a:t>
            </a:r>
            <a:r>
              <a:rPr lang="pl-PL" dirty="0"/>
              <a:t>)</a:t>
            </a:r>
          </a:p>
        </p:txBody>
      </p:sp>
      <p:sp>
        <p:nvSpPr>
          <p:cNvPr id="80" name="Data — symbol zastępczy 79">
            <a:extLst>
              <a:ext uri="{FF2B5EF4-FFF2-40B4-BE49-F238E27FC236}">
                <a16:creationId xmlns:a16="http://schemas.microsoft.com/office/drawing/2014/main" id="{BE862053-B0F7-7907-F2B6-A17A188ED0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81" name="Stopka — symbol zastępczy 80">
            <a:extLst>
              <a:ext uri="{FF2B5EF4-FFF2-40B4-BE49-F238E27FC236}">
                <a16:creationId xmlns:a16="http://schemas.microsoft.com/office/drawing/2014/main" id="{74AA5849-F5A6-EBA0-0B6D-F3FF3A77611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</p:txBody>
      </p:sp>
      <p:sp>
        <p:nvSpPr>
          <p:cNvPr id="82" name="Numer slajdu — symbol zastępczy 81">
            <a:extLst>
              <a:ext uri="{FF2B5EF4-FFF2-40B4-BE49-F238E27FC236}">
                <a16:creationId xmlns:a16="http://schemas.microsoft.com/office/drawing/2014/main" id="{7429D8E9-5ADB-8C1D-FE75-2ECFABC7FA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6</a:t>
            </a:fld>
            <a:endParaRPr lang="pl-P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1881A-1BF0-91C1-397B-9AD6E2731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41" y="2253410"/>
            <a:ext cx="11746317" cy="288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7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D4A6-2D48-025F-53CE-17F44AB3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1423C0-7663-ED4C-D0E0-567C7F67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872" y="249587"/>
            <a:ext cx="8421688" cy="931298"/>
          </a:xfrm>
        </p:spPr>
        <p:txBody>
          <a:bodyPr rtlCol="0"/>
          <a:lstStyle/>
          <a:p>
            <a:pPr rtl="0"/>
            <a:r>
              <a:rPr lang="pl-PL" dirty="0"/>
              <a:t>Model klucz-wartość (</a:t>
            </a:r>
            <a:r>
              <a:rPr lang="pl-PL" dirty="0" err="1"/>
              <a:t>Redis</a:t>
            </a:r>
            <a:r>
              <a:rPr lang="pl-PL" dirty="0"/>
              <a:t>) </a:t>
            </a:r>
          </a:p>
        </p:txBody>
      </p:sp>
      <p:sp>
        <p:nvSpPr>
          <p:cNvPr id="80" name="Data — symbol zastępczy 79">
            <a:extLst>
              <a:ext uri="{FF2B5EF4-FFF2-40B4-BE49-F238E27FC236}">
                <a16:creationId xmlns:a16="http://schemas.microsoft.com/office/drawing/2014/main" id="{0EC6FE1D-FF4A-8989-FD0F-F956C21D214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81" name="Stopka — symbol zastępczy 80">
            <a:extLst>
              <a:ext uri="{FF2B5EF4-FFF2-40B4-BE49-F238E27FC236}">
                <a16:creationId xmlns:a16="http://schemas.microsoft.com/office/drawing/2014/main" id="{3613BB9D-2724-ADBA-5C50-D6F192C778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</p:txBody>
      </p:sp>
      <p:sp>
        <p:nvSpPr>
          <p:cNvPr id="82" name="Numer slajdu — symbol zastępczy 81">
            <a:extLst>
              <a:ext uri="{FF2B5EF4-FFF2-40B4-BE49-F238E27FC236}">
                <a16:creationId xmlns:a16="http://schemas.microsoft.com/office/drawing/2014/main" id="{BF15A945-0F60-AED6-89B7-143848EC3E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7</a:t>
            </a:fld>
            <a:endParaRPr lang="pl-P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3B868-F234-DAC9-0A7E-6874CC05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3" y="2239871"/>
            <a:ext cx="11076687" cy="27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60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pl-PL" dirty="0"/>
              <a:t>Scenariusze</a:t>
            </a:r>
            <a:br>
              <a:rPr lang="pl-PL" dirty="0"/>
            </a:br>
            <a:r>
              <a:rPr lang="pl-PL" dirty="0"/>
              <a:t>Create</a:t>
            </a:r>
          </a:p>
        </p:txBody>
      </p:sp>
      <p:sp>
        <p:nvSpPr>
          <p:cNvPr id="20" name="Data — symbol zastępczy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pl-PL"/>
              <a:t>2026</a:t>
            </a:r>
            <a:endParaRPr lang="pl-PL" dirty="0"/>
          </a:p>
        </p:txBody>
      </p:sp>
      <p:sp>
        <p:nvSpPr>
          <p:cNvPr id="21" name="Stopka — symbol zastępczy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pl-PL" cap="all"/>
              <a:t>Porównanie wydajności systemów Bazodanowych</a:t>
            </a:r>
            <a:endParaRPr lang="pl-PL" dirty="0"/>
          </a:p>
        </p:txBody>
      </p:sp>
      <p:sp>
        <p:nvSpPr>
          <p:cNvPr id="22" name="Numer slajdu — symbol zastępczy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8</a:t>
            </a:fld>
            <a:endParaRPr lang="pl-PL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4A862A0-50C0-6B94-F026-A3DB21726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263" y="1420482"/>
            <a:ext cx="9490138" cy="251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Create (bez indeksów)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9</a:t>
            </a:fld>
            <a:endParaRPr lang="pl-P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367E5C-1346-9BEF-C791-79CD93DE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17" y="1437125"/>
            <a:ext cx="6927883" cy="463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9946-1796-A9F2-871A-896175C5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C7148C8-9D01-5BF8-53CD-03E5C5BE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Create (z indeksami)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5894022-CB67-4A94-F3CC-9E00F9C6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BF6F513-62FE-F62A-3FB2-1030FF55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3F5D2CC-133E-70BB-D81F-A9614D30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10</a:t>
            </a:fld>
            <a:endParaRPr lang="pl-P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FE2A1-E5FA-2A4C-4DD0-092AA7670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49" y="1524000"/>
            <a:ext cx="6984747" cy="466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0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33EB-47CF-60BC-9B70-10103E29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F24301-9C5A-64C2-CD29-61153864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Create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A7C6ADD-690B-763A-D80F-65EC6553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8D126A7A-F1D6-A8B0-8621-20F73554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9369B2E-C98C-4D7C-C45E-8D1820DC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11</a:t>
            </a:fld>
            <a:endParaRPr lang="pl-PL" dirty="0"/>
          </a:p>
        </p:txBody>
      </p:sp>
      <p:pic>
        <p:nvPicPr>
          <p:cNvPr id="7" name="Picture 6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49410F3C-B5B8-8DC0-4920-DCBD9D389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36" y="1558697"/>
            <a:ext cx="9672328" cy="446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5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2F40-D4EC-8CB7-78D1-FF097F7B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02B3D1-0B97-4CE9-8816-E5C61383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Create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968E4286-039D-A324-892E-FF2C1755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2C8BA61-64CE-3EAC-E618-0F55329F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F7C8747-88E8-525D-5536-E4974B3E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12</a:t>
            </a:fld>
            <a:endParaRPr lang="pl-PL" dirty="0"/>
          </a:p>
        </p:txBody>
      </p:sp>
      <p:pic>
        <p:nvPicPr>
          <p:cNvPr id="8" name="Picture 7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FD0A7805-0C9A-9DFA-C479-D0C700194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883" y="1629211"/>
            <a:ext cx="8982234" cy="414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7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12E2A-D74C-97C1-56A5-0BCE2E70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342CC8-5888-37FD-3EB8-719661AE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Create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18A070E9-A56A-833A-5340-6C290EBB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CBCE71A-53C9-3E11-4836-67CA1816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B2CC644-EA45-1DA7-7220-4B565204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13</a:t>
            </a:fld>
            <a:endParaRPr lang="pl-P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62CA5F-46FE-D4CF-0114-E2BACF16E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45" y="1629211"/>
            <a:ext cx="8982234" cy="414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70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D018-9EBE-26A8-8F82-56D69877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DA5D8D-593C-A9AE-1B18-774AFFAC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pl-PL" dirty="0"/>
              <a:t>Scenariusze</a:t>
            </a:r>
            <a:br>
              <a:rPr lang="pl-PL" dirty="0"/>
            </a:br>
            <a:r>
              <a:rPr lang="pl-PL" dirty="0"/>
              <a:t>REad</a:t>
            </a:r>
          </a:p>
        </p:txBody>
      </p:sp>
      <p:sp>
        <p:nvSpPr>
          <p:cNvPr id="20" name="Data — symbol zastępczy 19">
            <a:extLst>
              <a:ext uri="{FF2B5EF4-FFF2-40B4-BE49-F238E27FC236}">
                <a16:creationId xmlns:a16="http://schemas.microsoft.com/office/drawing/2014/main" id="{DB69C350-E66D-9ACE-DB3A-F0CDBA720E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pl-PL"/>
              <a:t>2026</a:t>
            </a:r>
            <a:endParaRPr lang="pl-PL" dirty="0"/>
          </a:p>
        </p:txBody>
      </p:sp>
      <p:sp>
        <p:nvSpPr>
          <p:cNvPr id="21" name="Stopka — symbol zastępczy 20">
            <a:extLst>
              <a:ext uri="{FF2B5EF4-FFF2-40B4-BE49-F238E27FC236}">
                <a16:creationId xmlns:a16="http://schemas.microsoft.com/office/drawing/2014/main" id="{9EF4B173-C9C1-FA0B-CFCD-C5F2676597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pl-PL" cap="all"/>
              <a:t>Porównanie wydajności systemów Bazodanowych</a:t>
            </a:r>
            <a:endParaRPr lang="pl-PL" dirty="0"/>
          </a:p>
        </p:txBody>
      </p:sp>
      <p:sp>
        <p:nvSpPr>
          <p:cNvPr id="22" name="Numer slajdu — symbol zastępczy 21">
            <a:extLst>
              <a:ext uri="{FF2B5EF4-FFF2-40B4-BE49-F238E27FC236}">
                <a16:creationId xmlns:a16="http://schemas.microsoft.com/office/drawing/2014/main" id="{64A2081A-4CCD-6450-3E31-7ED21C1EEA9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14</a:t>
            </a:fld>
            <a:endParaRPr lang="pl-P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AB870B-9363-CF5F-B299-640CC010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1568368"/>
            <a:ext cx="9359900" cy="242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59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96E5-06AD-DD07-F37F-D0C7B3F9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8C5C28-F8D6-7DF0-5ED5-3699BF03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READ (bez indeksów)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C38ACFA-1FCE-7E38-6C96-F911F886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2E25D53E-42CF-BF5E-B8BF-56DA2E64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57D4BC9F-5C16-D5B5-1865-8AB0965F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15</a:t>
            </a:fld>
            <a:endParaRPr lang="pl-PL" dirty="0"/>
          </a:p>
        </p:txBody>
      </p:sp>
      <p:pic>
        <p:nvPicPr>
          <p:cNvPr id="8" name="Picture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F0B1DE2-561A-462D-F604-F2E59219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895" y="1336231"/>
            <a:ext cx="6064250" cy="4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16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C35A8-F55C-FB9D-33E0-E22D6129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A121B0C-AA0B-F88C-79F4-75BE5E6A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read</a:t>
            </a:r>
            <a:r>
              <a:rPr lang="pl-PL" dirty="0"/>
              <a:t> (z indeksami)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58449D-AC59-FE8F-E172-07977A7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461E7F5-70AB-D883-0268-B39878E8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3067014-1E2F-E1F7-D528-BD9318BD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16</a:t>
            </a:fld>
            <a:endParaRPr lang="pl-PL" dirty="0"/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BF310AB-DBF3-BF55-5FBF-1E12DCBC4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09" y="1324319"/>
            <a:ext cx="6129339" cy="492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7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8284-262C-7CCB-70CA-3614EC5A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C2B1ED-5560-919E-25BB-622455BE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read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B1710E5-566B-2888-9A9D-DD0123A1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CA4ADB4-37FA-7CD5-D436-4FC7DC6F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B7D0C62E-358D-5323-C494-793A231F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17</a:t>
            </a:fld>
            <a:endParaRPr lang="pl-P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8A2B9-367A-45EB-C487-505D60DF4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66" y="1586345"/>
            <a:ext cx="9350668" cy="4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34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3AC8-B464-1DED-9B15-4F1A80E0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63273-DEF7-E21F-F4C3-19E52813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read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800D346-399B-558E-A540-CB557FFB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E9DF678-5C8E-A130-83AA-698D7092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821B263-1406-DB21-72CD-9F333E6C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18</a:t>
            </a:fld>
            <a:endParaRPr lang="pl-PL" dirty="0"/>
          </a:p>
        </p:txBody>
      </p:sp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8D48818-D34D-4867-2E1B-7E975D91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79" y="1517073"/>
            <a:ext cx="9783041" cy="45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82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3EEC-3B31-E986-DB00-AFB1BF78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7E57A4-9453-652C-DBF3-14F57AC0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read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D26F8D53-8268-B965-AB2A-FCAC9EE6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9A78472C-4654-5911-3542-9A5E0172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69C1DAF-3951-895D-AD69-ABCCB68F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19</a:t>
            </a:fld>
            <a:endParaRPr lang="pl-PL" dirty="0"/>
          </a:p>
        </p:txBody>
      </p:sp>
      <p:pic>
        <p:nvPicPr>
          <p:cNvPr id="7" name="Picture 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8EC2E295-20EF-74D2-5100-BFB30365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76" y="1243633"/>
            <a:ext cx="11025447" cy="508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63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396E-C3A8-8151-C626-6C7C4C5B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FDA821-10CA-03CD-616C-0DC7DE424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pl-PL" dirty="0"/>
              <a:t>Scenariusze</a:t>
            </a:r>
            <a:br>
              <a:rPr lang="pl-PL" dirty="0"/>
            </a:br>
            <a:r>
              <a:rPr lang="pl-PL" dirty="0"/>
              <a:t>Update</a:t>
            </a:r>
          </a:p>
        </p:txBody>
      </p:sp>
      <p:sp>
        <p:nvSpPr>
          <p:cNvPr id="20" name="Data — symbol zastępczy 19">
            <a:extLst>
              <a:ext uri="{FF2B5EF4-FFF2-40B4-BE49-F238E27FC236}">
                <a16:creationId xmlns:a16="http://schemas.microsoft.com/office/drawing/2014/main" id="{8A963527-52F8-8FA5-350B-EC42C452CAEF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pl-PL"/>
              <a:t>2026</a:t>
            </a:r>
            <a:endParaRPr lang="pl-PL" dirty="0"/>
          </a:p>
        </p:txBody>
      </p:sp>
      <p:sp>
        <p:nvSpPr>
          <p:cNvPr id="21" name="Stopka — symbol zastępczy 20">
            <a:extLst>
              <a:ext uri="{FF2B5EF4-FFF2-40B4-BE49-F238E27FC236}">
                <a16:creationId xmlns:a16="http://schemas.microsoft.com/office/drawing/2014/main" id="{F5B6634E-440E-593A-85A1-A94279A9C9A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pl-PL" cap="all"/>
              <a:t>Porównanie wydajności systemów Bazodanowych</a:t>
            </a:r>
            <a:endParaRPr lang="pl-PL" dirty="0"/>
          </a:p>
        </p:txBody>
      </p:sp>
      <p:sp>
        <p:nvSpPr>
          <p:cNvPr id="22" name="Numer slajdu — symbol zastępczy 21">
            <a:extLst>
              <a:ext uri="{FF2B5EF4-FFF2-40B4-BE49-F238E27FC236}">
                <a16:creationId xmlns:a16="http://schemas.microsoft.com/office/drawing/2014/main" id="{DCC59282-A2F4-F62D-5A72-21119988851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20</a:t>
            </a:fld>
            <a:endParaRPr lang="pl-P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23EAC-72E6-4526-D368-D92AEDCB4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397" y="1597349"/>
            <a:ext cx="9536903" cy="24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05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DFA7E-BEA1-8D0E-CC44-0BC9B938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820E5D-5236-992B-5FCB-E04C7E91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UPDATE (bez indeksów)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38FEDA1-B517-FC7B-1035-5F1186D5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75D0B9E-8DC5-4B41-233D-5A3B8BCE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37B4DC-1ABD-8FB5-39C1-1F8E2646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21</a:t>
            </a:fld>
            <a:endParaRPr lang="pl-PL" dirty="0"/>
          </a:p>
        </p:txBody>
      </p:sp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14CE1A94-5A7A-4B42-FEF7-149C429BB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69" y="1394320"/>
            <a:ext cx="6212031" cy="484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72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68892-2EC2-D072-3901-B937EBAD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5B96C8-5E0E-3190-F7C8-858E782D9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UPDATE (z indeksami)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CDBC59B-2A6D-C87F-A244-D83CA150ED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296ED51-3B5E-3ADD-2028-2A02596B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A2B74B8-0604-5D61-9A56-ED9C7175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22</a:t>
            </a:fld>
            <a:endParaRPr lang="pl-PL" dirty="0"/>
          </a:p>
        </p:txBody>
      </p:sp>
      <p:pic>
        <p:nvPicPr>
          <p:cNvPr id="8" name="Picture 7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F048AEB4-0BA9-052D-7772-38E6FDAD3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055" y="1370082"/>
            <a:ext cx="6146800" cy="483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1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1850-9B24-5F69-5C7A-3DF82110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BF6C4F-606F-5B81-7B6B-A1321B77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Update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B316EFD1-A8E3-1CF8-A599-7BA13851B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5CD28A56-33F3-A402-0B11-570B30B1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0CD8EFD-2200-5641-9AC0-547BD7B8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23</a:t>
            </a:fld>
            <a:endParaRPr lang="pl-P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8303CE-2E7A-40CE-361B-BF3A0573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48" y="1520728"/>
            <a:ext cx="9824704" cy="453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65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A47C-B64B-5884-3A63-96286EE1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8A1A27-9EED-9A3E-4648-05A30119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update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64725017-DE2C-5722-7ADA-E6C244EC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D422A671-F623-D40D-EA60-A82438DC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40066F0-D898-2161-A768-145B7839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24</a:t>
            </a:fld>
            <a:endParaRPr lang="pl-PL" dirty="0"/>
          </a:p>
        </p:txBody>
      </p:sp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F4953FC-6339-018C-6ED9-6C5200CC4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002" y="1496824"/>
            <a:ext cx="9759996" cy="450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15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E349F-DBE8-A031-1FFB-BE22520A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6B8085-775F-400C-5F58-D4325102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update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2982BDB-EA49-FC24-75ED-05DC4478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0B7724A-9C42-F881-E3D8-EB985761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A4EB2858-72EA-16F7-1B5C-85333F0D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25</a:t>
            </a:fld>
            <a:endParaRPr lang="pl-PL" dirty="0"/>
          </a:p>
        </p:txBody>
      </p:sp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65754E3-B7E6-E94D-9A8E-23919DE3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5" y="1319727"/>
            <a:ext cx="10695709" cy="493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17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EA90-26C8-61B8-1B21-D8366123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916F4B-E1EB-3489-C965-852C64FB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pl-PL" dirty="0"/>
              <a:t>Scenariusze</a:t>
            </a:r>
            <a:br>
              <a:rPr lang="pl-PL" dirty="0"/>
            </a:br>
            <a:r>
              <a:rPr lang="pl-PL" dirty="0"/>
              <a:t>Delete</a:t>
            </a:r>
          </a:p>
        </p:txBody>
      </p:sp>
      <p:sp>
        <p:nvSpPr>
          <p:cNvPr id="20" name="Data — symbol zastępczy 19">
            <a:extLst>
              <a:ext uri="{FF2B5EF4-FFF2-40B4-BE49-F238E27FC236}">
                <a16:creationId xmlns:a16="http://schemas.microsoft.com/office/drawing/2014/main" id="{B2C52DE9-26DE-171A-1295-61DFD33273B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pl-PL"/>
              <a:t>2026</a:t>
            </a:r>
            <a:endParaRPr lang="pl-PL" dirty="0"/>
          </a:p>
        </p:txBody>
      </p:sp>
      <p:sp>
        <p:nvSpPr>
          <p:cNvPr id="21" name="Stopka — symbol zastępczy 20">
            <a:extLst>
              <a:ext uri="{FF2B5EF4-FFF2-40B4-BE49-F238E27FC236}">
                <a16:creationId xmlns:a16="http://schemas.microsoft.com/office/drawing/2014/main" id="{F01F028A-27DC-102D-52BC-EC68142A46A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r>
              <a:rPr lang="pl-PL" cap="all"/>
              <a:t>Porównanie wydajności systemów Bazodanowych</a:t>
            </a:r>
            <a:endParaRPr lang="pl-PL" dirty="0"/>
          </a:p>
        </p:txBody>
      </p:sp>
      <p:sp>
        <p:nvSpPr>
          <p:cNvPr id="22" name="Numer slajdu — symbol zastępczy 21">
            <a:extLst>
              <a:ext uri="{FF2B5EF4-FFF2-40B4-BE49-F238E27FC236}">
                <a16:creationId xmlns:a16="http://schemas.microsoft.com/office/drawing/2014/main" id="{8C3F9B5C-13FF-4CFC-6F12-C6E4C5F39D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26</a:t>
            </a:fld>
            <a:endParaRPr lang="pl-P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4A2A5-1803-06BC-C3C4-880132489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450" y="1577544"/>
            <a:ext cx="9583812" cy="252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01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16E2-9A3D-A3AA-0783-A8EE1F5E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B019B4-1337-761E-60DB-E76B88DD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DELETE (bez indeksów)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9509CBFF-DA45-1F93-9A28-6C0F4BE5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B950182-FACC-CEBC-812A-8FE7F2B2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683DBC0-FD00-264A-A8D3-044BBEAD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27</a:t>
            </a:fld>
            <a:endParaRPr lang="pl-PL" dirty="0"/>
          </a:p>
        </p:txBody>
      </p:sp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5BC41198-165C-499C-0316-05EEAFBDD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068" y="1418871"/>
            <a:ext cx="5816023" cy="47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2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E3C3-3271-70A6-E8D3-B90A2049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71B9C-CCF9-CC25-BA44-8C4404CD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DELETE (z indeksami)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61887C2-F626-35CF-2099-A0FEB96C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6CF61F2-C297-FCD8-DCBA-AD03A600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BC33DDD-4E6D-3829-DC40-E865C2F5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28</a:t>
            </a:fld>
            <a:endParaRPr lang="pl-PL" dirty="0"/>
          </a:p>
        </p:txBody>
      </p:sp>
      <p:pic>
        <p:nvPicPr>
          <p:cNvPr id="8" name="Picture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E9844CF-0EC9-F0A9-E3F1-CBDC61DFD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89" y="1520662"/>
            <a:ext cx="5891139" cy="483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34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EE82-B793-7C3C-1FF0-94D1BDCA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3092D0-D4D9-A2F5-B8AB-99DD31F3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Delete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74A89EF-C922-3958-A485-975FD18E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5808E27A-F897-3445-BE98-AFAB1FED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D1BD860-1C7C-D170-5DC2-CD0C9555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29</a:t>
            </a:fld>
            <a:endParaRPr lang="pl-PL" dirty="0"/>
          </a:p>
        </p:txBody>
      </p:sp>
      <p:pic>
        <p:nvPicPr>
          <p:cNvPr id="7" name="Picture 6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78088840-9283-2601-FD54-584E5E250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2" y="1349374"/>
            <a:ext cx="10567235" cy="487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60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2565-1860-7B3F-73FA-6442ABC7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7875C9-8A56-EA03-8CD2-3FCEBE53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delete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5C7A3C9-0CB8-08F0-069D-A393D01E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B20BF23-098F-1092-5D22-9EA6C729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D0342D0B-9011-3231-E34E-B42003B8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30</a:t>
            </a:fld>
            <a:endParaRPr lang="pl-PL" dirty="0"/>
          </a:p>
        </p:txBody>
      </p:sp>
      <p:pic>
        <p:nvPicPr>
          <p:cNvPr id="8" name="Picture 7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C74AD40A-BC5F-FD27-21EA-78AED4839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9063"/>
            <a:ext cx="10510326" cy="48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52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4D8F-EF92-A21E-3411-7E15D7B8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A73B04-5EE4-EF01-A225-B94DAD0B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62" y="718018"/>
            <a:ext cx="8045492" cy="501566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Wyniki Scenariuszy </a:t>
            </a:r>
            <a:r>
              <a:rPr lang="pl-PL" dirty="0" err="1"/>
              <a:t>delete</a:t>
            </a:r>
            <a:endParaRPr lang="pl-PL" dirty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CC616C7-99C4-D86D-2892-EA15F635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B475984-7CF8-BC0F-B50C-1B392BD8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053" y="6356350"/>
            <a:ext cx="3334486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22189BC7-F013-913F-77DA-02F66669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31</a:t>
            </a:fld>
            <a:endParaRPr lang="pl-PL" dirty="0"/>
          </a:p>
        </p:txBody>
      </p:sp>
      <p:pic>
        <p:nvPicPr>
          <p:cNvPr id="8" name="Picture 7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3FE812CC-D5C1-ABE1-6F04-645894F4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51" y="1244914"/>
            <a:ext cx="11019898" cy="508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51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l-PL" dirty="0"/>
              <a:t>Weryfikacja Hipotezy</a:t>
            </a:r>
          </a:p>
        </p:txBody>
      </p:sp>
      <p:sp>
        <p:nvSpPr>
          <p:cNvPr id="9" name="Data — symbol zastępczy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10" name="Stopka — symbol zastępczy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11" name="Numer slajdu — symbol zastępczy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32</a:t>
            </a:fld>
            <a:endParaRPr lang="pl-PL" dirty="0"/>
          </a:p>
        </p:txBody>
      </p:sp>
      <p:pic>
        <p:nvPicPr>
          <p:cNvPr id="25" name="Picture 24" descr="A check mark in a circle&#10;&#10;AI-generated content may be incorrect.">
            <a:extLst>
              <a:ext uri="{FF2B5EF4-FFF2-40B4-BE49-F238E27FC236}">
                <a16:creationId xmlns:a16="http://schemas.microsoft.com/office/drawing/2014/main" id="{829BBB89-2CDB-E83B-9B89-79D51ABF1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922" y="2226106"/>
            <a:ext cx="2414155" cy="241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l-PL" dirty="0"/>
              <a:t>Wnioski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8C1455DF-5CEC-44A2-A92D-8E901D15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3855" y="3064615"/>
            <a:ext cx="1385927" cy="823912"/>
          </a:xfrm>
        </p:spPr>
        <p:txBody>
          <a:bodyPr rtlCol="0"/>
          <a:lstStyle/>
          <a:p>
            <a:pPr rtl="0"/>
            <a:r>
              <a:rPr lang="pl-PL" sz="2400" dirty="0"/>
              <a:t>Indeksy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7C7E7B18-D05F-4C44-8718-8C671160FC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20925" y="3084059"/>
            <a:ext cx="1756559" cy="823912"/>
          </a:xfrm>
        </p:spPr>
        <p:txBody>
          <a:bodyPr rtlCol="0"/>
          <a:lstStyle/>
          <a:p>
            <a:pPr rtl="0"/>
            <a:r>
              <a:rPr lang="pl-PL" sz="2400" dirty="0"/>
              <a:t>Rozmiar Dantych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C4EAD5C6-02F0-4D27-8D85-1BD5EA833D6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464370" y="3095501"/>
            <a:ext cx="2148212" cy="823912"/>
          </a:xfrm>
        </p:spPr>
        <p:txBody>
          <a:bodyPr rtlCol="0"/>
          <a:lstStyle/>
          <a:p>
            <a:pPr rtl="0"/>
            <a:r>
              <a:rPr lang="pl-PL" sz="2400" dirty="0"/>
              <a:t>Wybór</a:t>
            </a:r>
          </a:p>
          <a:p>
            <a:pPr rtl="0"/>
            <a:r>
              <a:rPr lang="pl-PL" sz="2400" dirty="0"/>
              <a:t>Technologii</a:t>
            </a:r>
          </a:p>
        </p:txBody>
      </p:sp>
      <p:sp>
        <p:nvSpPr>
          <p:cNvPr id="19" name="Zawartość — symbol zastępczy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823912"/>
          </a:xfrm>
        </p:spPr>
        <p:txBody>
          <a:bodyPr rtlCol="0"/>
          <a:lstStyle/>
          <a:p>
            <a:pPr rtl="0"/>
            <a:r>
              <a:rPr lang="pl-PL" dirty="0"/>
              <a:t>IstoTność Zastowowania</a:t>
            </a:r>
          </a:p>
        </p:txBody>
      </p:sp>
      <p:sp>
        <p:nvSpPr>
          <p:cNvPr id="20" name="Zawartość — symbol zastępczy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 fontScale="92500"/>
          </a:bodyPr>
          <a:lstStyle/>
          <a:p>
            <a:pPr rtl="0"/>
            <a:r>
              <a:rPr lang="pl-PL" dirty="0"/>
              <a:t>Wpływ Rozmiaru Danych</a:t>
            </a:r>
          </a:p>
        </p:txBody>
      </p:sp>
      <p:sp>
        <p:nvSpPr>
          <p:cNvPr id="21" name="Zawartość — symbol zastępczy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689921"/>
          </a:xfrm>
        </p:spPr>
        <p:txBody>
          <a:bodyPr rtlCol="0"/>
          <a:lstStyle/>
          <a:p>
            <a:pPr rtl="0"/>
            <a:r>
              <a:rPr lang="pl-PL" dirty="0"/>
              <a:t>Brak Jednego Poprawnego wyboru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pl-PL" dirty="0"/>
              <a:t>Dziękuję za uwagę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Jakub Balicki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pl-PL" dirty="0"/>
              <a:t>2026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3246170" cy="365125"/>
          </a:xfrm>
        </p:spPr>
        <p:txBody>
          <a:bodyPr rtlCol="0"/>
          <a:lstStyle/>
          <a:p>
            <a:r>
              <a:rPr lang="pl-PL" cap="all" dirty="0"/>
              <a:t>Porównanie wydajności systemów Bazodanowych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1_TF56180624_Win32" id="{8862C0A0-8013-46C7-AF68-691B9899ECBA}" vid="{61C0B28A-C360-492B-97B7-84C40F8956AC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Minimalistyczna prezentacja handlowa</Template>
  <TotalTime>731</TotalTime>
  <Words>491</Words>
  <Application>Microsoft Macintosh PowerPoint</Application>
  <PresentationFormat>Widescreen</PresentationFormat>
  <Paragraphs>183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Monoline</vt:lpstr>
      <vt:lpstr>Porównanie wydajności systemów Bazodanowych</vt:lpstr>
      <vt:lpstr>PowerPoint Presentation</vt:lpstr>
      <vt:lpstr>Testowane technologie: </vt:lpstr>
      <vt:lpstr>Baza danych Szpitala w systemie Relacyjnym (Postgresql, my sql)</vt:lpstr>
      <vt:lpstr>Baza danych Szpitala w systemie Relacyjnym (Postgresql, my sql)</vt:lpstr>
      <vt:lpstr>Baza danych Szpitala w systemie NIE Relacyjnym (mongo db)</vt:lpstr>
      <vt:lpstr>Model klucz-wartość (Redis) </vt:lpstr>
      <vt:lpstr>Scenariusze Create</vt:lpstr>
      <vt:lpstr>Wyniki Scenariuszy Create (bez indeksów)</vt:lpstr>
      <vt:lpstr>Wyniki Scenariuszy Create (z indeksami)</vt:lpstr>
      <vt:lpstr>Wyniki Scenariuszy Create</vt:lpstr>
      <vt:lpstr>Wyniki Scenariuszy Create</vt:lpstr>
      <vt:lpstr>Wyniki Scenariuszy Create</vt:lpstr>
      <vt:lpstr>Scenariusze REad</vt:lpstr>
      <vt:lpstr>Wyniki Scenariuszy READ (bez indeksów)</vt:lpstr>
      <vt:lpstr>Wyniki Scenariuszy read (z indeksami)</vt:lpstr>
      <vt:lpstr>Wyniki Scenariuszy read</vt:lpstr>
      <vt:lpstr>Wyniki Scenariuszy read</vt:lpstr>
      <vt:lpstr>Wyniki Scenariuszy read</vt:lpstr>
      <vt:lpstr>Scenariusze Update</vt:lpstr>
      <vt:lpstr>Wyniki Scenariuszy UPDATE (bez indeksów)</vt:lpstr>
      <vt:lpstr>Wyniki Scenariuszy UPDATE (z indeksami)</vt:lpstr>
      <vt:lpstr>Wyniki Scenariuszy Update</vt:lpstr>
      <vt:lpstr>Wyniki Scenariuszy update</vt:lpstr>
      <vt:lpstr>Wyniki Scenariuszy update</vt:lpstr>
      <vt:lpstr>Scenariusze Delete</vt:lpstr>
      <vt:lpstr>Wyniki Scenariuszy DELETE (bez indeksów)</vt:lpstr>
      <vt:lpstr>Wyniki Scenariuszy DELETE (z indeksami)</vt:lpstr>
      <vt:lpstr>Wyniki Scenariuszy Delete</vt:lpstr>
      <vt:lpstr>Wyniki Scenariuszy delete</vt:lpstr>
      <vt:lpstr>Wyniki Scenariuszy delete</vt:lpstr>
      <vt:lpstr>Weryfikacja Hipotezy</vt:lpstr>
      <vt:lpstr>Wnioski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Balicki</dc:creator>
  <cp:lastModifiedBy>Kuba Balicki</cp:lastModifiedBy>
  <cp:revision>2</cp:revision>
  <dcterms:created xsi:type="dcterms:W3CDTF">2026-05-17T17:07:57Z</dcterms:created>
  <dcterms:modified xsi:type="dcterms:W3CDTF">2026-05-21T13:45:14Z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